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6E54"/>
                </a:solidFill>
                <a:latin typeface="Consolas"/>
              </a:rPr>
              <a:t>MS COMPUTER SCIENCE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0" i="0">
                <a:solidFill>
                  <a:srgbClr val="2A2622"/>
                </a:solidFill>
                <a:latin typeface="Cambria"/>
              </a:rPr>
              <a:t>Motivational Interviewing
</a:t>
            </a:r>
            <a:r>
              <a:rPr sz="5600" b="0" i="1">
                <a:solidFill>
                  <a:srgbClr val="5C6E54"/>
                </a:solidFill>
                <a:latin typeface="Cambria"/>
              </a:rPr>
              <a:t>Chatbot.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572000"/>
            <a:ext cx="164592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C544C"/>
                </a:solidFill>
                <a:latin typeface="Cambria"/>
              </a:rPr>
              <a:t>Fine-tuned Gemma 2 + retrieval + safety layer + a clean end-user web app, all on top of one Python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8278"/>
                </a:solidFill>
                <a:latin typeface="Calibri"/>
              </a:rPr>
              <a:t>Tirth Shah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2A2622"/>
                </a:solidFill>
                <a:latin typeface="Cambria"/>
              </a:rPr>
              <a:t>Empathy doesn't scale. Confrontation </a:t>
            </a:r>
            <a:r>
              <a:rPr sz="3600" b="0" i="1">
                <a:solidFill>
                  <a:srgbClr val="5C6E54"/>
                </a:solidFill>
                <a:latin typeface="Cambria"/>
              </a:rPr>
              <a:t>backfires.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194560"/>
            <a:ext cx="128016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46888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High-risk alcohol use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is one of the largest preventable health burdens, but Motivational Interviewing (the evidence-based approach) requires a trained counselor.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General-purpose LLMs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default to advice-giving and confrontation, which is exactly what drives ambivalent or defensive users away.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What's missing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a small, local, fine-tuned model that knows MI, recognizes user state, retrieves the right counseling guidance, and stays within explicit safety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02 — 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2A2622"/>
                </a:solidFill>
                <a:latin typeface="Cambria"/>
              </a:rPr>
              <a:t>Motivational </a:t>
            </a:r>
            <a:r>
              <a:rPr sz="4000" b="0" i="1">
                <a:solidFill>
                  <a:srgbClr val="5C6E54"/>
                </a:solidFill>
                <a:latin typeface="Cambria"/>
              </a:rPr>
              <a:t>Interviewing.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C544C"/>
                </a:solidFill>
                <a:latin typeface="Cambria"/>
              </a:rPr>
              <a:t>Four principles. Reflective by design — not directive.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Express empathy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—  meet the user where they actually are.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Roll with resistance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—  do not push back; reflect.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Support autonomy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—  the choice is theirs, always.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Develop discrepancy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—  let them notice the gap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2622"/>
                </a:solidFill>
                <a:latin typeface="Calibri"/>
              </a:rPr>
              <a:t>Why MI fits an LLM:  </a:t>
            </a:r>
            <a:r>
              <a:rPr sz="1500" b="0" i="1">
                <a:solidFill>
                  <a:srgbClr val="5C544C"/>
                </a:solidFill>
                <a:latin typeface="Calibri"/>
              </a:rPr>
              <a:t>models are bad at confrontation but reasonable at reflective listening — the technique plays to a strength.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MOTIVATIONAL INTERVIEWING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03 —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2A2622"/>
                </a:solidFill>
                <a:latin typeface="Cambria"/>
              </a:rPr>
              <a:t>One pipeline. </a:t>
            </a:r>
            <a:r>
              <a:rPr sz="4000" b="0" i="1">
                <a:solidFill>
                  <a:srgbClr val="5C6E54"/>
                </a:solidFill>
                <a:latin typeface="Cambria"/>
              </a:rPr>
              <a:t>Two interfaces.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103120"/>
            <a:ext cx="128016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37744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Fine-tuned core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google/gemma-2-2b-it tuned with LoRA on the AnnoMI dataset plus ~1,000 synthetic MI conversations I generated with Claude.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Retrieval-augmented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FAISS over a curated MI knowledge base (OARS, anti-patterns, stage-of-change, real AnnoMI excerpts), top-3 per turn, biased by user state.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Safety layer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regex-based crisis and medical-boundary detection before AND after the LLM call. Per-turn JSONL audit log for every conversation.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Two faces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a Streamlit dev/eval app that exposes internal state, and a clean React + FastAPI end-user web app — same backend, different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WHAT I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2A2622"/>
                </a:solidFill>
                <a:latin typeface="Cambria"/>
              </a:rPr>
              <a:t>Six stages, </a:t>
            </a:r>
            <a:r>
              <a:rPr sz="4000" b="0" i="1">
                <a:solidFill>
                  <a:srgbClr val="5C6E54"/>
                </a:solidFill>
                <a:latin typeface="Cambria"/>
              </a:rPr>
              <a:t>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C544C"/>
                </a:solidFill>
                <a:latin typeface="Cambria"/>
              </a:rPr>
              <a:t>User message in, audited response out. No black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1.  Input safety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regex match for crisis ideation or restricted topics; if triggered, short-circuit with the resource response.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2.  State inference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score emotion (7-way) and defensiveness (4-way) — used silently to steer style, never surfaced to the user.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3.  RAG retrieval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top-3 MI knowledge chunks via FAISS, weighted by inferred state.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4.  Response generation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fine-tuned mi-therapist on Ollama (Claude Haiku is a transparent fallback).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5.  Output safety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screen for medical-advice patterns; replace if matched.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6.  Audit log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one JSONL entry per turn — state, safety, retrieved chunks, full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05 —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2A2622"/>
                </a:solidFill>
                <a:latin typeface="Cambria"/>
              </a:rPr>
              <a:t>LoRA on Gemma 2, deployed via </a:t>
            </a:r>
            <a:r>
              <a:rPr sz="3600" b="0" i="1">
                <a:solidFill>
                  <a:srgbClr val="5C6E54"/>
                </a:solidFill>
                <a:latin typeface="Cambria"/>
              </a:rPr>
              <a:t>Ollama.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194560"/>
            <a:ext cx="128016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46888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Base model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google/gemma-2-2b-it — small enough to run locally on CPU, instruction-tuned out of the box.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Method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Parameter-Efficient Fine-Tuning (LoRA via PEFT). Trained on a Colab T4.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Training data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AnnoMI alcohol-only subset (~676 KB, 363 dialogue examples) + ~1,000 synthetic MI conversations covering short / medium / long / mixed-defensiveness scenarios.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1" i="0">
                <a:solidFill>
                  <a:srgbClr val="2A2622"/>
                </a:solidFill>
                <a:latin typeface="Calibri"/>
              </a:rPr>
              <a:t>Deployment  </a:t>
            </a:r>
            <a:r>
              <a:rPr sz="1800" b="0" i="0">
                <a:solidFill>
                  <a:srgbClr val="5C544C"/>
                </a:solidFill>
                <a:latin typeface="Calibri"/>
              </a:rPr>
              <a:t>merged + quantized to 4-bit GGUF (Q4_K_M, 1.6 GB). Registered with Ollama as `mi-therapist`. Total turn latency on CPU: ~2–4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06 —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A2622"/>
                </a:solidFill>
                <a:latin typeface="Cambria"/>
              </a:rPr>
              <a:t>Real MI transcripts are rare. So I </a:t>
            </a:r>
            <a:r>
              <a:rPr sz="3200" b="0" i="1">
                <a:solidFill>
                  <a:srgbClr val="5C6E54"/>
                </a:solidFill>
                <a:latin typeface="Cambria"/>
              </a:rPr>
              <a:t>generated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C544C"/>
                </a:solidFill>
                <a:latin typeface="Cambria"/>
              </a:rPr>
              <a:t>Claude simulates both sides of a session, parameterized by scenario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Scenario types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short (single-turn), medium (3–5 turns), long (8–12 turns), mixed-defensiveness (user shifts between open and resistant).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Generator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scripts/generate_synthetic_data.py prompts Claude with explicit MI guardrails: no advice-giving, no closed questions, simple-then-complex reflections, vary openers.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Output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1,000+ conversations as JSONL batches under data/synthetic/, deduplicated and merged into the fine-tuning split.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Why this works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real AnnoMI is too small to train on alone; synthetic data widens coverage of scenario shapes a 363-example set can't hit.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07 —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A2622"/>
                </a:solidFill>
                <a:latin typeface="Cambria"/>
              </a:rPr>
              <a:t>LLM-as-judge across MI </a:t>
            </a:r>
            <a:r>
              <a:rPr sz="3200" b="0" i="1">
                <a:solidFill>
                  <a:srgbClr val="5C6E54"/>
                </a:solidFill>
                <a:latin typeface="Cambria"/>
              </a:rPr>
              <a:t>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2A2622"/>
                </a:solidFill>
                <a:latin typeface="Calibri"/>
              </a:rPr>
              <a:t>Test set  </a:t>
            </a:r>
            <a:r>
              <a:rPr sz="1300" b="0" i="0">
                <a:solidFill>
                  <a:srgbClr val="5C544C"/>
                </a:solidFill>
                <a:latin typeface="Calibri"/>
              </a:rPr>
              <a:t>20 handcrafted user turns spanning emotion × defensiveness.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2A2622"/>
                </a:solidFill>
                <a:latin typeface="Calibri"/>
              </a:rPr>
              <a:t>Judge  </a:t>
            </a:r>
            <a:r>
              <a:rPr sz="1300" b="0" i="0">
                <a:solidFill>
                  <a:srgbClr val="5C544C"/>
                </a:solidFill>
                <a:latin typeface="Calibri"/>
              </a:rPr>
              <a:t>Claude Sonnet, scored on a 1–5 scale across five MI dimensions.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2A2622"/>
                </a:solidFill>
                <a:latin typeface="Calibri"/>
              </a:rPr>
              <a:t>Configs  </a:t>
            </a:r>
            <a:r>
              <a:rPr sz="1300" b="0" i="0">
                <a:solidFill>
                  <a:srgbClr val="5C544C"/>
                </a:solidFill>
                <a:latin typeface="Calibri"/>
              </a:rPr>
              <a:t>Base Gemma 2 → v1 → v2 → v2 + RAG → Claude as reference.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2A2622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5C544C"/>
                </a:solidFill>
                <a:latin typeface="Calibri"/>
              </a:rPr>
              <a:t>human MI scoring is too slow for iteration; LLM-as-judge correlates well enough to be a coarse signal.</a:t>
            </a:r>
          </a:p>
        </p:txBody>
      </p:sp>
      <p:pic>
        <p:nvPicPr>
          <p:cNvPr id="6" name="Picture 5" descr="0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6692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8278"/>
                </a:solidFill>
                <a:latin typeface="Calibri"/>
              </a:rPr>
              <a:t>v2 + RAG closes most of the gap to Claude on technique and resistance handling.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08 — TWO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A2622"/>
                </a:solidFill>
                <a:latin typeface="Cambria"/>
              </a:rPr>
              <a:t>Same pipeline. </a:t>
            </a:r>
            <a:r>
              <a:rPr sz="3200" b="0" i="1">
                <a:solidFill>
                  <a:srgbClr val="5C6E54"/>
                </a:solidFill>
                <a:latin typeface="Cambria"/>
              </a:rPr>
              <a:t>Different audiences.</a:t>
            </a:r>
          </a:p>
        </p:txBody>
      </p:sp>
      <p:pic>
        <p:nvPicPr>
          <p:cNvPr id="5" name="Picture 4" descr="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5" y="1828800"/>
            <a:ext cx="36118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3435" y="52120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278"/>
                </a:solidFill>
                <a:latin typeface="Calibri"/>
              </a:rPr>
              <a:t>WELCOME — open invitation, three starter prompts, soft crisis link.</a:t>
            </a:r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1828800"/>
            <a:ext cx="361188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89907" y="52120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278"/>
                </a:solidFill>
                <a:latin typeface="Calibri"/>
              </a:rPr>
              <a:t>CHAT — assistant text reads as a thoughtful reply, not a chat bubble.</a:t>
            </a:r>
          </a:p>
        </p:txBody>
      </p:sp>
      <p:pic>
        <p:nvPicPr>
          <p:cNvPr id="9" name="Picture 8" descr="cri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379" y="1828800"/>
            <a:ext cx="361188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66379" y="52120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278"/>
                </a:solidFill>
                <a:latin typeface="Calibri"/>
              </a:rPr>
              <a:t>CRISIS — soft card with 988, SAMHSA, Crisis Text Line surfaced inline.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A2622"/>
                </a:solidFill>
                <a:latin typeface="Calibri"/>
              </a:rPr>
              <a:t>End-user web app: </a:t>
            </a:r>
            <a:r>
              <a:rPr sz="1300" b="0" i="1">
                <a:solidFill>
                  <a:srgbClr val="5C544C"/>
                </a:solidFill>
                <a:latin typeface="Calibri"/>
              </a:rPr>
              <a:t>React + FastAPI on a single port. Streamlit dev app remains for evaluation and debug.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TWO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B86F52"/>
                </a:solidFill>
                <a:latin typeface="Consolas"/>
              </a:rPr>
              <a:t>09 —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A2622"/>
                </a:solidFill>
                <a:latin typeface="Cambria"/>
              </a:rPr>
              <a:t>Two-stage guardrails. </a:t>
            </a:r>
            <a:r>
              <a:rPr sz="3200" b="0" i="1">
                <a:solidFill>
                  <a:srgbClr val="5C6E54"/>
                </a:solidFill>
                <a:latin typeface="Cambria"/>
              </a:rPr>
              <a:t>Auditable by design.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103120"/>
            <a:ext cx="128016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37744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Input screen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regex patterns for active and passive ideation (suicidal language, self-harm, overdose) and restricted topics (medication dosing, prescriptions). Match → short-circuit, no LLM call.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Output screen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scan generated response for medical-advice patterns; replace with a safe reflective fallback if matched.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Recently broadened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added optional-intensifier groups so 'don't even want to be here' and 'no reason to keep going' now trigger correctly — the original strict-adjacency regex was missing them.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 i="0">
                <a:solidFill>
                  <a:srgbClr val="2A2622"/>
                </a:solidFill>
                <a:latin typeface="Calibri"/>
              </a:rPr>
              <a:t>Auditability  </a:t>
            </a:r>
            <a:r>
              <a:rPr sz="1500" b="0" i="0">
                <a:solidFill>
                  <a:srgbClr val="5C544C"/>
                </a:solidFill>
                <a:latin typeface="Calibri"/>
              </a:rPr>
              <a:t>every turn writes one JSONL record under logs/&lt;session_id&gt;.jsonl with the inferred state, safety level, and retrieved chunks. Crisis turns are also appended to logs/flagged_for_review.jsonl.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SAFETY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10 —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2A2622"/>
                </a:solidFill>
                <a:latin typeface="Cambria"/>
              </a:rPr>
              <a:t>What it's built 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011680"/>
            <a:ext cx="128016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2860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E54"/>
                </a:solidFill>
                <a:latin typeface="Consolas"/>
              </a:rPr>
              <a:t>ML &amp; DATA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C544C"/>
                </a:solidFill>
                <a:latin typeface="Calibri"/>
              </a:rPr>
              <a:t>Python  ·  PyTorch  ·  Hugging Face Transformers (LoRA via PEFT)  ·  sentence-transformers  ·  FAISS  ·  LangChain  · 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E54"/>
                </a:solidFill>
                <a:latin typeface="Consolas"/>
              </a:rPr>
              <a:t>INFERENCE &amp; DEPLOYMENT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C544C"/>
                </a:solidFill>
                <a:latin typeface="Calibri"/>
              </a:rPr>
              <a:t>Ollama (Gemma 2 fine-tune, Q4_K_M GGUF)  ·  Anthropic API (Claude Haiku fallback)  ·  OpenAI API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E54"/>
                </a:solidFill>
                <a:latin typeface="Consolas"/>
              </a:rPr>
              <a:t>WEB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C544C"/>
                </a:solidFill>
                <a:latin typeface="Calibri"/>
              </a:rPr>
              <a:t>FastAPI  ·  uvicorn  ·  Pydantic  ·  React 18 (UMD)  ·  Babel Standalone (in-browser JSX)  · 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6E54"/>
                </a:solidFill>
                <a:latin typeface="Consolas"/>
              </a:rPr>
              <a:t>OBSERVABILITY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C544C"/>
                </a:solidFill>
                <a:latin typeface="Calibri"/>
              </a:rPr>
              <a:t>loguru  ·  per-turn JSONL audit logs  ·  Claude-as-judge eval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5C6E54"/>
                </a:solidFill>
                <a:latin typeface="Consolas"/>
              </a:rPr>
              <a:t>11 — WHAT I'D WANT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2A2622"/>
                </a:solidFill>
                <a:latin typeface="Cambria"/>
              </a:rPr>
              <a:t>Honest </a:t>
            </a:r>
            <a:r>
              <a:rPr sz="4000" b="0" i="1">
                <a:solidFill>
                  <a:srgbClr val="5C6E54"/>
                </a:solidFill>
                <a:latin typeface="Cambria"/>
              </a:rPr>
              <a:t>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C544C"/>
                </a:solidFill>
                <a:latin typeface="Cambria"/>
              </a:rPr>
              <a:t>What this is, and what it isn't, stated plainly.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Not clinically validated.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This is a capstone, not a product. No IRB, no clinician review at scale.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Emotion classifier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gets subtle affects wrong — resignation often reads as 'sad'.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LLM-as-judge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correlates with human MI ratings, but isn't ground truth. I treat the scores as a coarse iteration signal.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Latency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~2–4 seconds per turn on CPU Ollama. Fine for demos; too slow for real-time conversation.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No memory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across sessions — each conversation starts fresh.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2A2622"/>
                </a:solidFill>
                <a:latin typeface="Calibri"/>
              </a:rPr>
              <a:t>Crisis regex  </a:t>
            </a:r>
            <a:r>
              <a:rPr sz="1400" b="0" i="0">
                <a:solidFill>
                  <a:srgbClr val="5C544C"/>
                </a:solidFill>
                <a:latin typeface="Calibri"/>
              </a:rPr>
              <a:t>is enumerative. Semantically equivalent phrasings still slip through if not pre-listed. Recently broadened, but not exhaustive.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278"/>
                </a:solidFill>
                <a:latin typeface="Consolas"/>
              </a:rPr>
              <a:t>HONEST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8278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1">
                <a:solidFill>
                  <a:srgbClr val="5C6E54"/>
                </a:solidFill>
                <a:latin typeface="Cambria"/>
              </a:rPr>
              <a:t>Thank you.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4114800"/>
            <a:ext cx="1645920" cy="0"/>
          </a:xfrm>
          <a:prstGeom prst="line">
            <a:avLst/>
          </a:prstGeom>
          <a:ln w="15875">
            <a:solidFill>
              <a:srgbClr val="7A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42976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2622"/>
                </a:solidFill>
                <a:latin typeface="Consolas"/>
              </a:rPr>
              <a:t>github.com/TirthShahh28/motivational-interviewing-chatbot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5C544C"/>
                </a:solidFill>
                <a:latin typeface="Calibri"/>
              </a:rPr>
              <a:t>tirthshah2812@gmail.com</a:t>
            </a:r>
          </a:p>
          <a:p>
            <a:pPr algn="l">
              <a:spcBef>
                <a:spcPts val="2000"/>
              </a:spcBef>
            </a:pPr>
            <a:r>
              <a:rPr sz="1600" b="0" i="1">
                <a:solidFill>
                  <a:srgbClr val="8A8278"/>
                </a:solidFill>
                <a:latin typeface="Cambria"/>
              </a:rPr>
              <a:t>Happy to walk through the live web app or any layer of the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