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0" d="100"/>
          <a:sy n="70" d="100"/>
        </p:scale>
        <p:origin x="512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2/11/2026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1430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Emotion-Aware Conversational Chatbot</a:t>
            </a:r>
            <a:br/>
            <a:r>
              <a:t>for Alcohol Dialogues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591091" y="3200400"/>
            <a:ext cx="7162218" cy="4616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rPr dirty="0"/>
              <a:t>Week 3 Progress Briefing  • </a:t>
            </a:r>
            <a:r>
              <a:rPr lang="en-US" dirty="0"/>
              <a:t>Tirth Shah</a:t>
            </a:r>
            <a:r>
              <a:rPr dirty="0"/>
              <a:t>  •  February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200">
                <a:solidFill>
                  <a:srgbClr val="333333"/>
                </a:solidFill>
              </a:defRPr>
            </a:pPr>
            <a:r>
              <a:t>🎯 High-risk alcohol consumption is a critical public health challenge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200">
                <a:solidFill>
                  <a:srgbClr val="333333"/>
                </a:solidFill>
              </a:defRPr>
            </a:pPr>
            <a:r>
              <a:t>🧠 Motivational Interviewing (MI) is effective but lacks scalability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200">
                <a:solidFill>
                  <a:srgbClr val="333333"/>
                </a:solidFill>
              </a:defRPr>
            </a:pPr>
            <a:r>
              <a:t>🤖 Current chatbots fail to detect emotional cues and defensiveness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200">
                <a:solidFill>
                  <a:srgbClr val="333333"/>
                </a:solidFill>
              </a:defRPr>
            </a:pPr>
            <a:r>
              <a:t>💡 Opportunity: Combine LLMs with emotional awareness for accessible intervention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1371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Project Goal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200">
                <a:solidFill>
                  <a:srgbClr val="333333"/>
                </a:solidFill>
              </a:defRPr>
            </a:pPr>
            <a:r>
              <a:t>Develop an MVP chatbot that can: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200">
                <a:solidFill>
                  <a:srgbClr val="333333"/>
                </a:solidFill>
              </a:defRPr>
            </a:pPr>
            <a:r>
              <a:t>    ✓  Detect user emotional state in real-time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200">
                <a:solidFill>
                  <a:srgbClr val="333333"/>
                </a:solidFill>
              </a:defRPr>
            </a:pPr>
            <a:r>
              <a:t>    ✓  Identify defensiveness patterns (denial, rationalization)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200">
                <a:solidFill>
                  <a:srgbClr val="333333"/>
                </a:solidFill>
              </a:defRPr>
            </a:pPr>
            <a:r>
              <a:t>    ✓  Respond with empathy using MI principles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200">
                <a:solidFill>
                  <a:srgbClr val="333333"/>
                </a:solidFill>
              </a:defRPr>
            </a:pPr>
            <a:r>
              <a:t>    ✓  Provide harm-reduction support without medical advice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2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spcAft>
                <a:spcPts val="600"/>
              </a:spcAft>
              <a:defRPr sz="2200">
                <a:solidFill>
                  <a:srgbClr val="333333"/>
                </a:solidFill>
              </a:defRPr>
            </a:pPr>
            <a:r>
              <a:t>Focus: Technical feasibility demonstration, not clinical deployment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1371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Progress Summary (Weeks 1-3)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6699"/>
                </a:solidFill>
              </a:defRPr>
            </a:pPr>
            <a:r>
              <a:t>✅ Completed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t>• Literature review on Motivational Interviewing</a:t>
            </a:r>
          </a:p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t>• Research on LLM-based conversational agents</a:t>
            </a:r>
          </a:p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t>• Technology exploration and comparison</a:t>
            </a:r>
          </a:p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t>• Development environment setup</a:t>
            </a:r>
          </a:p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t>• Initial project planning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137160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6699"/>
                </a:solidFill>
              </a:defRPr>
            </a:pPr>
            <a:r>
              <a:t>🔄 In Progress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19202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t>• Understanding RAG architecture</a:t>
            </a:r>
          </a:p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t>• Learning prompt engineering techniques</a:t>
            </a:r>
          </a:p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t>• Defining state classification categories</a:t>
            </a:r>
          </a:p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t>• Designing system architecture</a:t>
            </a:r>
          </a:p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t>• Selecting final technology stack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91695" cy="1371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Literature Review: Motivational Interviewing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200">
                <a:solidFill>
                  <a:srgbClr val="333333"/>
                </a:solidFill>
              </a:defRPr>
            </a:pPr>
            <a:r>
              <a:t>What is MI?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200">
                <a:solidFill>
                  <a:srgbClr val="333333"/>
                </a:solidFill>
              </a:defRPr>
            </a:pPr>
            <a:r>
              <a:t>    • Collaborative, person-centered counseling approach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200">
                <a:solidFill>
                  <a:srgbClr val="333333"/>
                </a:solidFill>
              </a:defRPr>
            </a:pPr>
            <a:r>
              <a:t>    • Developed by Miller &amp; Rollnick (1991)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200">
                <a:solidFill>
                  <a:srgbClr val="333333"/>
                </a:solidFill>
              </a:defRPr>
            </a:pPr>
            <a:r>
              <a:t>    • Proven effective for substance use behavior change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2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spcAft>
                <a:spcPts val="600"/>
              </a:spcAft>
              <a:defRPr sz="2200">
                <a:solidFill>
                  <a:srgbClr val="333333"/>
                </a:solidFill>
              </a:defRPr>
            </a:pPr>
            <a:r>
              <a:t>Core Principles (OARS):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200">
                <a:solidFill>
                  <a:srgbClr val="333333"/>
                </a:solidFill>
              </a:defRPr>
            </a:pPr>
            <a:r>
              <a:t>    • Open Questions – Invite elaboration, not yes/no answers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200">
                <a:solidFill>
                  <a:srgbClr val="333333"/>
                </a:solidFill>
              </a:defRPr>
            </a:pPr>
            <a:r>
              <a:t>    • Affirmations – Recognize client strengths and efforts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200">
                <a:solidFill>
                  <a:srgbClr val="333333"/>
                </a:solidFill>
              </a:defRPr>
            </a:pPr>
            <a:r>
              <a:t>    • Reflections – Mirror back understanding to show empathy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200">
                <a:solidFill>
                  <a:srgbClr val="333333"/>
                </a:solidFill>
              </a:defRPr>
            </a:pPr>
            <a:r>
              <a:t>    • Summaries – Collect and present key points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1371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Understanding Defensiveness in Alcohol Conversations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1554480"/>
          <a:ext cx="105156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Pattern</a:t>
                      </a:r>
                    </a:p>
                  </a:txBody>
                  <a:tcPr>
                    <a:solidFill>
                      <a:srgbClr val="0096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Example</a:t>
                      </a:r>
                    </a:p>
                  </a:txBody>
                  <a:tcPr>
                    <a:solidFill>
                      <a:srgbClr val="0096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Chatbot Strategy</a:t>
                      </a:r>
                    </a:p>
                  </a:txBody>
                  <a:tcPr>
                    <a:solidFill>
                      <a:srgbClr val="0096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Denial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"I don't have a problem"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Simple reflection, validate perspective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Minimization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"I only drink a little"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Explore without challenging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Rationalization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"Everyone does it"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Double-sided reflection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Projection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"You don't understand"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Emphasize autonomy, avoid arguing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0" y="6583680"/>
            <a:ext cx="12191695" cy="1371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Learning Generative AI Concepts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200">
                <a:solidFill>
                  <a:srgbClr val="333333"/>
                </a:solidFill>
              </a:defRPr>
            </a:pPr>
            <a:r>
              <a:t>Large Language Models (LLMs)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200">
                <a:solidFill>
                  <a:srgbClr val="333333"/>
                </a:solidFill>
              </a:defRPr>
            </a:pPr>
            <a:r>
              <a:t>    • Exploring: How LLMs generate contextual responses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200">
                <a:solidFill>
                  <a:srgbClr val="333333"/>
                </a:solidFill>
              </a:defRPr>
            </a:pPr>
            <a:r>
              <a:t>    • Models researched: GPT-4, Llama 3, Gemma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200">
                <a:solidFill>
                  <a:srgbClr val="333333"/>
                </a:solidFill>
              </a:defRPr>
            </a:pPr>
            <a:r>
              <a:t>    • Key learning: Prompt engineering shapes model behavior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2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spcAft>
                <a:spcPts val="600"/>
              </a:spcAft>
              <a:defRPr sz="2200">
                <a:solidFill>
                  <a:srgbClr val="333333"/>
                </a:solidFill>
              </a:defRPr>
            </a:pPr>
            <a:r>
              <a:t>Retrieval-Augmented Generation (RAG)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200">
                <a:solidFill>
                  <a:srgbClr val="333333"/>
                </a:solidFill>
              </a:defRPr>
            </a:pPr>
            <a:r>
              <a:t>    • Combines LLM capabilities with external knowledge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200">
                <a:solidFill>
                  <a:srgbClr val="333333"/>
                </a:solidFill>
              </a:defRPr>
            </a:pPr>
            <a:r>
              <a:t>    • Allows grounding responses in expert MI guidelines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200">
                <a:solidFill>
                  <a:srgbClr val="333333"/>
                </a:solidFill>
              </a:defRPr>
            </a:pPr>
            <a:r>
              <a:t>    • Currently studying: Vector embeddings, semantic search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1371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Technologies Being Explored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1554480"/>
          <a:ext cx="10515600" cy="32918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39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Tool</a:t>
                      </a:r>
                    </a:p>
                  </a:txBody>
                  <a:tcPr>
                    <a:solidFill>
                      <a:srgbClr val="0096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Purpose</a:t>
                      </a:r>
                    </a:p>
                  </a:txBody>
                  <a:tcPr>
                    <a:solidFill>
                      <a:srgbClr val="0096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Learning Status</a:t>
                      </a:r>
                    </a:p>
                  </a:txBody>
                  <a:tcPr>
                    <a:solidFill>
                      <a:srgbClr val="0096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39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LangChain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LLM orchestration &amp; chaining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In progress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39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Ollama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Local LLM hosting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Exploring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39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ChromaDB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Vector database for RAG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Researching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39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Streamlit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Web UI framework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4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Python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Core development language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Proficient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0" y="6583680"/>
            <a:ext cx="12191695" cy="1371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Proposed System Architecture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754880" y="1463040"/>
            <a:ext cx="2926080" cy="731520"/>
          </a:xfrm>
          <a:prstGeom prst="round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User Input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754880" y="2286000"/>
            <a:ext cx="2926080" cy="731520"/>
          </a:xfrm>
          <a:prstGeom prst="round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State Inference</a:t>
            </a:r>
            <a:br/>
            <a:r>
              <a:t>(Emotion + Defensiveness)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754880" y="3291840"/>
            <a:ext cx="2926080" cy="731520"/>
          </a:xfrm>
          <a:prstGeom prst="round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Knowledge Retrieval</a:t>
            </a:r>
            <a:br/>
            <a:r>
              <a:t>(RAG)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0" y="4297680"/>
            <a:ext cx="2926080" cy="731520"/>
          </a:xfrm>
          <a:prstGeom prst="round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Response Generation</a:t>
            </a:r>
            <a:br/>
            <a:r>
              <a:t>(MI-Based)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754880" y="5303520"/>
            <a:ext cx="2926080" cy="731520"/>
          </a:xfrm>
          <a:prstGeom prst="round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Safety Check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754880" y="6126480"/>
            <a:ext cx="2926080" cy="731520"/>
          </a:xfrm>
          <a:prstGeom prst="round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Bot Response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3657600"/>
            <a:ext cx="3200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i="1">
                <a:solidFill>
                  <a:srgbClr val="333333"/>
                </a:solidFill>
              </a:defRPr>
            </a:pPr>
            <a:r>
              <a:t>Note: This is a proposed design.</a:t>
            </a:r>
            <a:br/>
            <a:r>
              <a:t>Implementation to follow.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Proposed State Classification Categories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6699"/>
                </a:solidFill>
              </a:defRPr>
            </a:pPr>
            <a:r>
              <a:t>Emotional States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t>• Neutral – Baseline state</a:t>
            </a:r>
          </a:p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t>• Frustrated – Feeling unheard</a:t>
            </a:r>
          </a:p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t>• Anxious – Worried about change</a:t>
            </a:r>
          </a:p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t>• Sad – Hopelessness, regret</a:t>
            </a:r>
          </a:p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t>• Angry – Hostility, blame</a:t>
            </a:r>
          </a:p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t>• Hopeful – Interest in change</a:t>
            </a:r>
          </a:p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t>• Contemplative – Weighing options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137160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6699"/>
                </a:solidFill>
              </a:defRPr>
            </a:pPr>
            <a:r>
              <a:t>Defensiveness Levels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1920240"/>
            <a:ext cx="5029200" cy="264687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rPr dirty="0"/>
              <a:t>• None – Open and receptive</a:t>
            </a:r>
          </a:p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rPr dirty="0"/>
              <a:t>• Low – Slight resistance</a:t>
            </a:r>
          </a:p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rPr dirty="0"/>
              <a:t>• Moderate – Clear defensive markers</a:t>
            </a:r>
          </a:p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rPr dirty="0"/>
              <a:t>• High – Strong denial/rationalization</a:t>
            </a:r>
          </a:p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endParaRPr dirty="0"/>
          </a:p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rPr dirty="0"/>
              <a:t>• Approach: LLM-based classification</a:t>
            </a:r>
          </a:p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rPr dirty="0"/>
              <a:t>• with structured JSON output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91695" cy="1371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Challenges &amp; Learning Gaps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6699"/>
                </a:solidFill>
              </a:defRPr>
            </a:pPr>
            <a:r>
              <a:t>Technical Challenges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9202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t>• Prompt engineering for accurate classification</a:t>
            </a:r>
          </a:p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t>• RAG implementation complexity</a:t>
            </a:r>
          </a:p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t>• Conversation context management</a:t>
            </a:r>
          </a:p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t>• Response quality evaluation</a:t>
            </a:r>
          </a:p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t>• Integration of multiple components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0" y="1371600"/>
            <a:ext cx="5029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06699"/>
                </a:solidFill>
              </a:defRPr>
            </a:pPr>
            <a:r>
              <a:t>Domain Challenges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0" y="1920240"/>
            <a:ext cx="50292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t>• Limited access to real MI dialogues</a:t>
            </a:r>
          </a:p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t>• Need expert input on knowledge base</a:t>
            </a:r>
          </a:p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t>• Balancing helpfulness with safety</a:t>
            </a:r>
          </a:p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t>• Defining evaluation criteria</a:t>
            </a:r>
          </a:p>
          <a:p>
            <a:pPr>
              <a:spcBef>
                <a:spcPts val="800"/>
              </a:spcBef>
              <a:defRPr sz="1800">
                <a:solidFill>
                  <a:srgbClr val="333333"/>
                </a:solidFill>
              </a:defRPr>
            </a:pPr>
            <a:r>
              <a:t>• Scope management for MVP</a:t>
            </a:r>
          </a:p>
        </p:txBody>
      </p:sp>
      <p:sp>
        <p:nvSpPr>
          <p:cNvPr id="8" name="Rectangle 7"/>
          <p:cNvSpPr/>
          <p:nvPr/>
        </p:nvSpPr>
        <p:spPr>
          <a:xfrm>
            <a:off x="0" y="6583680"/>
            <a:ext cx="12191695" cy="1371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Next Steps (Weeks 4-7)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200">
                <a:solidFill>
                  <a:srgbClr val="333333"/>
                </a:solidFill>
              </a:defRPr>
            </a:pPr>
            <a:r>
              <a:t>Week 4: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200">
                <a:solidFill>
                  <a:srgbClr val="333333"/>
                </a:solidFill>
              </a:defRPr>
            </a:pPr>
            <a:r>
              <a:t>    • Complete LangChain tutorials and documentation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200">
                <a:solidFill>
                  <a:srgbClr val="333333"/>
                </a:solidFill>
              </a:defRPr>
            </a:pPr>
            <a:r>
              <a:t>    • Build basic LLM interaction prototype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2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spcAft>
                <a:spcPts val="600"/>
              </a:spcAft>
              <a:defRPr sz="2200">
                <a:solidFill>
                  <a:srgbClr val="333333"/>
                </a:solidFill>
              </a:defRPr>
            </a:pPr>
            <a:r>
              <a:t>Week 5: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200">
                <a:solidFill>
                  <a:srgbClr val="333333"/>
                </a:solidFill>
              </a:defRPr>
            </a:pPr>
            <a:r>
              <a:t>    • Implement initial RAG pipeline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200">
                <a:solidFill>
                  <a:srgbClr val="333333"/>
                </a:solidFill>
              </a:defRPr>
            </a:pPr>
            <a:r>
              <a:t>    • Create starter knowledge base content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2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spcAft>
                <a:spcPts val="600"/>
              </a:spcAft>
              <a:defRPr sz="2200">
                <a:solidFill>
                  <a:srgbClr val="333333"/>
                </a:solidFill>
              </a:defRPr>
            </a:pPr>
            <a:r>
              <a:t>Week 6: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200">
                <a:solidFill>
                  <a:srgbClr val="333333"/>
                </a:solidFill>
              </a:defRPr>
            </a:pPr>
            <a:r>
              <a:t>    • Integrate state inference with response generation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200">
                <a:solidFill>
                  <a:srgbClr val="333333"/>
                </a:solidFill>
              </a:defRPr>
            </a:pPr>
            <a:r>
              <a:t>    • Create simple testing UI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2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spcAft>
                <a:spcPts val="600"/>
              </a:spcAft>
              <a:defRPr sz="2200">
                <a:solidFill>
                  <a:srgbClr val="333333"/>
                </a:solidFill>
              </a:defRPr>
            </a:pPr>
            <a:r>
              <a:t>Week 7 (Mid-Term):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200">
                <a:solidFill>
                  <a:srgbClr val="333333"/>
                </a:solidFill>
              </a:defRPr>
            </a:pPr>
            <a:r>
              <a:t>    • Working prototype demonstration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200">
                <a:solidFill>
                  <a:srgbClr val="333333"/>
                </a:solidFill>
              </a:defRPr>
            </a:pPr>
            <a:r>
              <a:t>    • Progress report with initial results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1371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Project Timeline Overview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822960" y="1554480"/>
          <a:ext cx="1051560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48640"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Week</a:t>
                      </a:r>
                    </a:p>
                  </a:txBody>
                  <a:tcPr>
                    <a:solidFill>
                      <a:srgbClr val="0096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Focus Area</a:t>
                      </a:r>
                    </a:p>
                  </a:txBody>
                  <a:tcPr>
                    <a:solidFill>
                      <a:srgbClr val="0096C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600" b="1">
                          <a:solidFill>
                            <a:srgbClr val="FFFFFF"/>
                          </a:solidFill>
                        </a:defRPr>
                      </a:pPr>
                      <a:r>
                        <a:t>Key Deliverable</a:t>
                      </a:r>
                    </a:p>
                  </a:txBody>
                  <a:tcPr>
                    <a:solidFill>
                      <a:srgbClr val="0096C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1-3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Research &amp; Foundation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Literature review, tech exploration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4-5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Core Development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Basic LLM + RAG integration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6-7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Integration (Mid-Term)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Working prototype demo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8-9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Safety &amp; Logging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Complete pipeline with guardrails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10-11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Evaluation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Expert review, testing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12-13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Refinement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Bug fixes, documentation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4864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14-15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Final Delivery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33333"/>
                          </a:solidFill>
                        </a:defRPr>
                      </a:pPr>
                      <a:r>
                        <a:t>Presentation &amp; report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5" name="Rectangle 4"/>
          <p:cNvSpPr/>
          <p:nvPr/>
        </p:nvSpPr>
        <p:spPr>
          <a:xfrm>
            <a:off x="0" y="6583680"/>
            <a:ext cx="12191695" cy="1371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Questions for 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200">
                <a:solidFill>
                  <a:srgbClr val="333333"/>
                </a:solidFill>
              </a:defRPr>
            </a:pPr>
            <a:r>
              <a:t>1. Knowledge Base Content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200">
                <a:solidFill>
                  <a:srgbClr val="333333"/>
                </a:solidFill>
              </a:defRPr>
            </a:pPr>
            <a:r>
              <a:t>    • Where can I find validated MI dialogue examples?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200">
                <a:solidFill>
                  <a:srgbClr val="333333"/>
                </a:solidFill>
              </a:defRPr>
            </a:pPr>
            <a:r>
              <a:t>    • Should I create synthetic training scenarios?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2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spcAft>
                <a:spcPts val="600"/>
              </a:spcAft>
              <a:defRPr sz="2200">
                <a:solidFill>
                  <a:srgbClr val="333333"/>
                </a:solidFill>
              </a:defRPr>
            </a:pPr>
            <a:r>
              <a:t>2. Evaluation Approach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200">
                <a:solidFill>
                  <a:srgbClr val="333333"/>
                </a:solidFill>
              </a:defRPr>
            </a:pPr>
            <a:r>
              <a:t>    • How should I measure response quality without clinical trials?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200">
                <a:solidFill>
                  <a:srgbClr val="333333"/>
                </a:solidFill>
              </a:defRPr>
            </a:pPr>
            <a:r>
              <a:t>    • Is expert review of 5-10 conversations sufficient for MVP?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2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spcAft>
                <a:spcPts val="600"/>
              </a:spcAft>
              <a:defRPr sz="2200">
                <a:solidFill>
                  <a:srgbClr val="333333"/>
                </a:solidFill>
              </a:defRPr>
            </a:pPr>
            <a:r>
              <a:t>3. Scope Confirmation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200">
                <a:solidFill>
                  <a:srgbClr val="333333"/>
                </a:solidFill>
              </a:defRPr>
            </a:pPr>
            <a:r>
              <a:t>    • Is the MVP scope (text-only, no memory) appropriate?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200">
                <a:solidFill>
                  <a:srgbClr val="333333"/>
                </a:solidFill>
              </a:defRPr>
            </a:pPr>
            <a:r>
              <a:t>    • Any concerns about the proposed architecture?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1371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200">
                <a:solidFill>
                  <a:srgbClr val="333333"/>
                </a:solidFill>
              </a:defRPr>
            </a:pPr>
            <a:r>
              <a:t>✅ Problem is well-defined with clear MVP scope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2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spcAft>
                <a:spcPts val="600"/>
              </a:spcAft>
              <a:defRPr sz="2200">
                <a:solidFill>
                  <a:srgbClr val="333333"/>
                </a:solidFill>
              </a:defRPr>
            </a:pPr>
            <a:r>
              <a:t>✅ Literature review provides solid foundation for MI approach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2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spcAft>
                <a:spcPts val="600"/>
              </a:spcAft>
              <a:defRPr sz="2200">
                <a:solidFill>
                  <a:srgbClr val="333333"/>
                </a:solidFill>
              </a:defRPr>
            </a:pPr>
            <a:r>
              <a:t>✅ Actively learning GenAI tools and techniques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2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spcAft>
                <a:spcPts val="600"/>
              </a:spcAft>
              <a:defRPr sz="2200">
                <a:solidFill>
                  <a:srgbClr val="333333"/>
                </a:solidFill>
              </a:defRPr>
            </a:pPr>
            <a:r>
              <a:t>✅ System architecture designed, ready for implementation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2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spcAft>
                <a:spcPts val="600"/>
              </a:spcAft>
              <a:defRPr sz="2200">
                <a:solidFill>
                  <a:srgbClr val="333333"/>
                </a:solidFill>
              </a:defRPr>
            </a:pPr>
            <a:r>
              <a:t>📋 Next: Begin prototyping in Week 4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2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spcAft>
                <a:spcPts val="600"/>
              </a:spcAft>
              <a:defRPr sz="2200">
                <a:solidFill>
                  <a:srgbClr val="333333"/>
                </a:solidFill>
              </a:defRPr>
            </a:pPr>
            <a:r>
              <a:t>🙏 Seeking: Feedback on approach and access to MI resources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1371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18872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457200" y="32004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References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554480"/>
            <a:ext cx="109728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200">
                <a:solidFill>
                  <a:srgbClr val="333333"/>
                </a:solidFill>
              </a:defRPr>
            </a:pPr>
            <a:r>
              <a:t>1. Miller, W. R., &amp; Rollnick, S. (2012). Motivational Interviewing: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200">
                <a:solidFill>
                  <a:srgbClr val="333333"/>
                </a:solidFill>
              </a:defRPr>
            </a:pPr>
            <a:r>
              <a:t>    Helping People Change. Guilford Press.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2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spcAft>
                <a:spcPts val="600"/>
              </a:spcAft>
              <a:defRPr sz="2200">
                <a:solidFill>
                  <a:srgbClr val="333333"/>
                </a:solidFill>
              </a:defRPr>
            </a:pPr>
            <a:r>
              <a:t>2. Prochaska, J. O., &amp; DiClemente, C. C. (1983). Stages and processes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200">
                <a:solidFill>
                  <a:srgbClr val="333333"/>
                </a:solidFill>
              </a:defRPr>
            </a:pPr>
            <a:r>
              <a:t>    of self-change. Journal of Consulting and Clinical Psychology.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2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spcAft>
                <a:spcPts val="600"/>
              </a:spcAft>
              <a:defRPr sz="2200">
                <a:solidFill>
                  <a:srgbClr val="333333"/>
                </a:solidFill>
              </a:defRPr>
            </a:pPr>
            <a:r>
              <a:t>3. Lewis, P., et al. (2020). Retrieval-Augmented Generation for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200">
                <a:solidFill>
                  <a:srgbClr val="333333"/>
                </a:solidFill>
              </a:defRPr>
            </a:pPr>
            <a:r>
              <a:t>    Knowledge-Intensive NLP Tasks. NeurIPS.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2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spcAft>
                <a:spcPts val="600"/>
              </a:spcAft>
              <a:defRPr sz="2200">
                <a:solidFill>
                  <a:srgbClr val="333333"/>
                </a:solidFill>
              </a:defRPr>
            </a:pPr>
            <a:r>
              <a:t>4. LangChain Documentation - python.langchain.com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200">
                <a:solidFill>
                  <a:srgbClr val="333333"/>
                </a:solidFill>
              </a:defRPr>
            </a:pPr>
            <a:endParaRPr/>
          </a:p>
          <a:p>
            <a:pPr>
              <a:spcBef>
                <a:spcPts val="1200"/>
              </a:spcBef>
              <a:spcAft>
                <a:spcPts val="600"/>
              </a:spcAft>
              <a:defRPr sz="2200">
                <a:solidFill>
                  <a:srgbClr val="333333"/>
                </a:solidFill>
              </a:defRPr>
            </a:pPr>
            <a:r>
              <a:t>5. Ollama Documentation - ollama.com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6583680"/>
            <a:ext cx="12191695" cy="137160"/>
          </a:xfrm>
          <a:prstGeom prst="rect">
            <a:avLst/>
          </a:prstGeom>
          <a:solidFill>
            <a:srgbClr val="FF6B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66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943600"/>
            <a:ext cx="12191695" cy="914400"/>
          </a:xfrm>
          <a:prstGeom prst="rect">
            <a:avLst/>
          </a:prstGeom>
          <a:solidFill>
            <a:srgbClr val="0096C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11430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Thank You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200400"/>
            <a:ext cx="114300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FFFFFF"/>
                </a:solidFill>
              </a:defRPr>
            </a:pPr>
            <a:r>
              <a:t>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35</TotalTime>
  <Words>965</Words>
  <Application>Microsoft Office PowerPoint</Application>
  <PresentationFormat>Widescreen</PresentationFormat>
  <Paragraphs>202</Paragraphs>
  <Slides>17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Shah, Tirth</cp:lastModifiedBy>
  <cp:revision>2</cp:revision>
  <dcterms:created xsi:type="dcterms:W3CDTF">2013-01-27T09:14:16Z</dcterms:created>
  <dcterms:modified xsi:type="dcterms:W3CDTF">2026-02-11T15:30:23Z</dcterms:modified>
  <cp:category/>
</cp:coreProperties>
</file>